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unito Light"/>
      <p:regular r:id="rId201314"/>
    </p:embeddedFont>
    <p:embeddedFont>
      <p:font typeface="Nunito"/>
      <p:regular r:id="rId201315"/>
    </p:embeddedFont>
    <p:embeddedFont>
      <p:font typeface="Nunito Medium"/>
      <p:regular r:id="rId201316"/>
    </p:embeddedFont>
    <p:embeddedFont>
      <p:font typeface="Nunito SemiBold"/>
      <p:regular r:id="rId201317"/>
    </p:embeddedFont>
    <p:embeddedFont>
      <p:font typeface="Nunito Bold"/>
      <p:regular r:id="rId201318"/>
    </p:embeddedFont>
    <p:embeddedFont>
      <p:font typeface="Nunito ExtraBold"/>
      <p:regular r:id="rId201319"/>
    </p:embeddedFont>
    <p:embeddedFont>
      <p:font typeface="Nunito Black"/>
      <p:regular r:id="rId201320"/>
    </p:embeddedFont>
    <p:embeddedFont>
      <p:font typeface="Nunito ExtraLight"/>
      <p:regular r:id="rId201321"/>
    </p:embeddedFont>
    <p:embeddedFont>
      <p:font typeface="PT Sans"/>
      <p:regular r:id="rId201322"/>
    </p:embeddedFont>
    <p:embeddedFont>
      <p:font typeface="PT Sans Bold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12" y="513953"/>
            <a:ext cx="4372461" cy="583009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69971" y="2182118"/>
            <a:ext cx="2853559" cy="303113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5" name="Text 2"/>
          <p:cNvSpPr/>
          <p:nvPr/>
        </p:nvSpPr>
        <p:spPr>
          <a:xfrm>
            <a:off x="5389626" y="2241947"/>
            <a:ext cx="3223834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END-TO-END DATA ANALYSIS PROJECT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269971" y="2565003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Brazilian E-Commerce Sales Analysis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5269971" y="4037509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complete Data Analysis pipeline — from raw transactional data to actionable business insights — built with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Python, SQL,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Power BI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3683"/>
            <a:ext cx="10795524" cy="54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Problem &amp; Objectives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98086" y="1558429"/>
            <a:ext cx="5170259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98086" y="2007195"/>
            <a:ext cx="5170259" cy="866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E-commerce data is fragmented across multiple sources — orders, payments, logistics, and reviews — making it difficult to derive unified, actionable insights for stakeholders.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29700" y="1558429"/>
            <a:ext cx="5170259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Business Questions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29700" y="2007195"/>
            <a:ext cx="5170259" cy="1687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drives revenue and order volume?</a:t>
            </a:r>
            <a:endParaRPr lang="en-US" sz="1450" dirty="0"/>
          </a:p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Which sellers and products perform best?</a:t>
            </a:r>
            <a:endParaRPr lang="en-US" sz="1450" dirty="0"/>
          </a:p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How do delivery delays impact reviews?</a:t>
            </a:r>
            <a:endParaRPr lang="en-US" sz="1450" dirty="0"/>
          </a:p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Where are customers concentrated geographically?</a:t>
            </a:r>
            <a:endParaRPr lang="en-US" sz="1450" dirty="0"/>
          </a:p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Can freight costs be optimized?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98086" y="3952180"/>
            <a:ext cx="5310551" cy="1078805"/>
          </a:xfrm>
          <a:prstGeom prst="roundRect">
            <a:avLst>
              <a:gd name="adj" fmla="val 25938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3662" y="4157762"/>
            <a:ext cx="4899399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Decision-Making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03662" y="4536678"/>
            <a:ext cx="4899399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Data-driven strategy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83059" y="3952180"/>
            <a:ext cx="5310551" cy="1078805"/>
          </a:xfrm>
          <a:prstGeom prst="roundRect">
            <a:avLst>
              <a:gd name="adj" fmla="val 25938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8635" y="4157762"/>
            <a:ext cx="4899399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Logistics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88635" y="4536678"/>
            <a:ext cx="4899399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Optimize delivery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98086" y="5205413"/>
            <a:ext cx="5310551" cy="1078805"/>
          </a:xfrm>
          <a:prstGeom prst="roundRect">
            <a:avLst>
              <a:gd name="adj" fmla="val 25938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662" y="5410994"/>
            <a:ext cx="4899399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Profitability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03662" y="5789910"/>
            <a:ext cx="4899399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top products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83059" y="5205413"/>
            <a:ext cx="5310551" cy="1078805"/>
          </a:xfrm>
          <a:prstGeom prst="roundRect">
            <a:avLst>
              <a:gd name="adj" fmla="val 25938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8635" y="5410994"/>
            <a:ext cx="4899399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Satisfaction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88635" y="5789910"/>
            <a:ext cx="4899399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Improve CX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5327"/>
            <a:ext cx="10795524" cy="5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Dataset &amp; Data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154039"/>
            <a:ext cx="5185637" cy="78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Olist dataset comprises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8 relational tables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capturing the full e-commerce lifecycle — from customer registration to order delivery and review.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98086" y="3071812"/>
            <a:ext cx="5185637" cy="245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Customers</a:t>
            </a:r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demographics &amp; location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Orders</a:t>
            </a:r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timestamps &amp; status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Order Items</a:t>
            </a:r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products, prices &amp; freight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Products</a:t>
            </a:r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categories &amp; attributes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Sellers</a:t>
            </a:r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location &amp; performance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Payments</a:t>
            </a:r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methods &amp; installments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Reviews</a:t>
            </a:r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scores &amp; comments</a:t>
            </a:r>
            <a:endParaRPr lang="en-US" sz="1350" dirty="0"/>
          </a:p>
          <a:p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Geolocation</a:t>
            </a:r>
            <a:pPr algn="l" marL="274320" indent="-27432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zip codes &amp; coordinates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4322" y="1464866"/>
            <a:ext cx="4667034" cy="4667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0309"/>
            <a:ext cx="10795524" cy="49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Python Data Processing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931" y="1340445"/>
            <a:ext cx="7135832" cy="3265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1852" y="3717086"/>
            <a:ext cx="1339685" cy="485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Export to PostgreSQL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303480" y="3717086"/>
            <a:ext cx="1339686" cy="485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Transform &amp; Enrich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624285" y="3838384"/>
            <a:ext cx="1339686" cy="24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Profile &amp; Clean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908387" y="3838384"/>
            <a:ext cx="1339686" cy="24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Load CSV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8086" y="4763393"/>
            <a:ext cx="1079552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serves as the ETL engine — profiling raw CSV files, resolving data quality issues, and structuring a clean analytical dataset ready for database ingestion.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5410795"/>
            <a:ext cx="333764" cy="3337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6371" y="5468144"/>
            <a:ext cx="2973809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Pandas &amp; NumPy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06371" y="5797252"/>
            <a:ext cx="2973809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manipulation, aggregation, and numerical computation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4701" y="5410795"/>
            <a:ext cx="333764" cy="3337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62986" y="5468144"/>
            <a:ext cx="2973908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Matplotlib &amp; Seaborn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862986" y="5797252"/>
            <a:ext cx="297390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Exploratory visualizations during preprocessing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1416" y="5410795"/>
            <a:ext cx="333764" cy="3337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19701" y="5468144"/>
            <a:ext cx="2973908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SQLAlchemy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8519701" y="5797252"/>
            <a:ext cx="297390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ORM-based connection and bulk loading into 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9296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Database &amp; SQL Analytics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2720181"/>
            <a:ext cx="688134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PostgreSQL as the Analytical Layer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98086" y="3080544"/>
            <a:ext cx="6881343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Cleaned data is loaded into a normalized PostgreSQL schema, enabling complex queries that directly answer business questions.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15" y="1359297"/>
            <a:ext cx="3526345" cy="352643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5170686"/>
            <a:ext cx="2603931" cy="11279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2278" y="5348684"/>
            <a:ext cx="217174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JOINs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52278" y="5658445"/>
            <a:ext cx="2171745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Link orders, items, sellers, and customers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8617" y="5170686"/>
            <a:ext cx="2603931" cy="11279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82809" y="5348684"/>
            <a:ext cx="2171745" cy="467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GROUP BY &amp; Aggregates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3682809" y="5892205"/>
            <a:ext cx="2171745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Revenue, order counts, AOV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9147" y="5170686"/>
            <a:ext cx="2603931" cy="11279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13340" y="5348684"/>
            <a:ext cx="217174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CASE Statements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6413340" y="5658445"/>
            <a:ext cx="2171745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Delivery delay classification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89678" y="5170686"/>
            <a:ext cx="2603931" cy="112791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43870" y="5348684"/>
            <a:ext cx="217174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Date Functions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9143870" y="5658445"/>
            <a:ext cx="2171745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Monthly trends &amp; seasonality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4341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Exploratory Data Analysis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521718"/>
            <a:ext cx="1079552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EDA reveals business patterns before dashboard development — surfacing revenue trends, category performance, delivery issues, and regional demand.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517874"/>
            <a:ext cx="4908229" cy="3533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33371" y="2495352"/>
            <a:ext cx="51665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EDA Findings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333371" y="2953941"/>
            <a:ext cx="5166588" cy="172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Health beauty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leads revenue; 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Gifts 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leads order volume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SE region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accounts for ~60% of all orders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Average delivery delay: 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2–3 days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beyond estimate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Freight costs represent 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12%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order value on average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Review scores correlate strongly with on-time delivery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0358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Power BI Dashboard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1365052"/>
            <a:ext cx="11405108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 interactive, filter-driven dashboard consolidates all KPIs into a single view for executive and operational stakeholders.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29885" y="1818084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R$16M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98086" y="2520255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Revenue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98086" y="2831505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Across all orders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707417" y="1818084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112.65K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6175617" y="2520255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Orders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75617" y="2831505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 the dataset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29885" y="3396258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R$120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98086" y="4098429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Avg Order Value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8086" y="4409678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 transaction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07417" y="3396258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96K</a:t>
            </a:r>
            <a:endParaRPr lang="en-US" sz="4100" dirty="0"/>
          </a:p>
        </p:txBody>
      </p:sp>
      <p:sp>
        <p:nvSpPr>
          <p:cNvPr id="14" name="Text 12"/>
          <p:cNvSpPr/>
          <p:nvPr/>
        </p:nvSpPr>
        <p:spPr>
          <a:xfrm>
            <a:off x="6175617" y="4098429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75617" y="4409678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Unique buyers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29885" y="4974431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3K</a:t>
            </a:r>
            <a:endParaRPr lang="en-US" sz="4100" dirty="0"/>
          </a:p>
        </p:txBody>
      </p:sp>
      <p:sp>
        <p:nvSpPr>
          <p:cNvPr id="17" name="Text 15"/>
          <p:cNvSpPr/>
          <p:nvPr/>
        </p:nvSpPr>
        <p:spPr>
          <a:xfrm>
            <a:off x="698086" y="5676602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Sellers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98086" y="5987852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Active merchants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07417" y="4974431"/>
            <a:ext cx="4254394" cy="52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4.3★</a:t>
            </a:r>
            <a:endParaRPr lang="en-US" sz="4100" dirty="0"/>
          </a:p>
        </p:txBody>
      </p:sp>
      <p:sp>
        <p:nvSpPr>
          <p:cNvPr id="20" name="Text 18"/>
          <p:cNvSpPr/>
          <p:nvPr/>
        </p:nvSpPr>
        <p:spPr>
          <a:xfrm>
            <a:off x="6175617" y="5676602"/>
            <a:ext cx="531799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Avg Review Score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75617" y="5987852"/>
            <a:ext cx="5317992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Out of 5 stars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6981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Insights &amp; Recommendations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355453"/>
            <a:ext cx="1456792" cy="9003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3505101"/>
            <a:ext cx="251185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Focus on Electronics &amp; Home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4211340"/>
            <a:ext cx="251185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These two categories drive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over 50% of revenue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prioritize inventory and seller partnerships here.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274" y="2355453"/>
            <a:ext cx="1456792" cy="9003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9274" y="3505101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Fix Delivery Delays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459274" y="3918049"/>
            <a:ext cx="251185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Delayed orders average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0.8 stars lower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reviews. Invest in last-mile logistics for SE region.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63" y="2355453"/>
            <a:ext cx="1456792" cy="9003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0463" y="3505101"/>
            <a:ext cx="251185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Expand in South &amp; Central-West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20463" y="4211340"/>
            <a:ext cx="251185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These regions show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high satisfaction and low competition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ideal for targeted marketing.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652" y="2355453"/>
            <a:ext cx="1456892" cy="9004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81652" y="3505200"/>
            <a:ext cx="25119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Optimize Freight Costs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981652" y="3918148"/>
            <a:ext cx="2511957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Negotiate carrier rates for high-volume routes; freight savings could improve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margins by 5–8%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0180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Challenges &amp; Skills Gained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086" y="1509018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Challenges Overcome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920478"/>
            <a:ext cx="2523467" cy="20234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2795" y="2108994"/>
            <a:ext cx="2070247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Missing &amp; Inconsistent Data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62795" y="2751733"/>
            <a:ext cx="2070247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Null handling, outlier detection, and standardization across 8 tables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5614" y="1920478"/>
            <a:ext cx="2523467" cy="20234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30323" y="2108994"/>
            <a:ext cx="2070247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Complex Table Relationships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3630323" y="2751733"/>
            <a:ext cx="2070247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Multi-key JOINs across Orders, Items, Payments, and Reviews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088011"/>
            <a:ext cx="2523467" cy="17725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2795" y="4276527"/>
            <a:ext cx="2070247" cy="498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SQL Query Optimization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62795" y="4919266"/>
            <a:ext cx="2070247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CTEs and window functions for efficient aggregation on 100K+ rows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65614" y="4088011"/>
            <a:ext cx="2523467" cy="17725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30323" y="4276527"/>
            <a:ext cx="2070247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KPI Design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3630323" y="4669929"/>
            <a:ext cx="2070247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Translating business questions into measurable, dashboard-ready metrics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308964" y="1509018"/>
            <a:ext cx="519099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Skills Demonstrated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6308964" y="1920478"/>
            <a:ext cx="2523467" cy="1279029"/>
          </a:xfrm>
          <a:prstGeom prst="roundRect">
            <a:avLst>
              <a:gd name="adj" fmla="val 19885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497475" y="2108994"/>
            <a:ext cx="508583" cy="508595"/>
          </a:xfrm>
          <a:prstGeom prst="ellipse">
            <a:avLst/>
          </a:prstGeom>
          <a:solidFill>
            <a:srgbClr val="2D4DF2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37271" y="2248793"/>
            <a:ext cx="228892" cy="22889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97475" y="2761655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Python</a:t>
            </a:r>
            <a:endParaRPr lang="en-US" sz="1550" dirty="0"/>
          </a:p>
        </p:txBody>
      </p:sp>
      <p:sp>
        <p:nvSpPr>
          <p:cNvPr id="21" name="Shape 14"/>
          <p:cNvSpPr/>
          <p:nvPr/>
        </p:nvSpPr>
        <p:spPr>
          <a:xfrm>
            <a:off x="8976493" y="1920478"/>
            <a:ext cx="2523467" cy="1279029"/>
          </a:xfrm>
          <a:prstGeom prst="roundRect">
            <a:avLst>
              <a:gd name="adj" fmla="val 1988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165004" y="2108994"/>
            <a:ext cx="508583" cy="508595"/>
          </a:xfrm>
          <a:prstGeom prst="ellipse">
            <a:avLst/>
          </a:prstGeom>
          <a:solidFill>
            <a:srgbClr val="018CE1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04799" y="2248793"/>
            <a:ext cx="228892" cy="22889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165004" y="2761655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PostgreSQL</a:t>
            </a:r>
            <a:endParaRPr lang="en-US" sz="1550" dirty="0"/>
          </a:p>
        </p:txBody>
      </p:sp>
      <p:sp>
        <p:nvSpPr>
          <p:cNvPr id="25" name="Shape 17"/>
          <p:cNvSpPr/>
          <p:nvPr/>
        </p:nvSpPr>
        <p:spPr>
          <a:xfrm>
            <a:off x="6308964" y="3343573"/>
            <a:ext cx="2523467" cy="1279029"/>
          </a:xfrm>
          <a:prstGeom prst="roundRect">
            <a:avLst>
              <a:gd name="adj" fmla="val 19885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497475" y="3532088"/>
            <a:ext cx="508583" cy="508595"/>
          </a:xfrm>
          <a:prstGeom prst="ellipse">
            <a:avLst/>
          </a:prstGeom>
          <a:solidFill>
            <a:srgbClr val="DA33B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37271" y="3671888"/>
            <a:ext cx="228892" cy="22889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497475" y="4184749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SQL</a:t>
            </a:r>
            <a:endParaRPr lang="en-US" sz="1550" dirty="0"/>
          </a:p>
        </p:txBody>
      </p:sp>
      <p:sp>
        <p:nvSpPr>
          <p:cNvPr id="29" name="Shape 20"/>
          <p:cNvSpPr/>
          <p:nvPr/>
        </p:nvSpPr>
        <p:spPr>
          <a:xfrm>
            <a:off x="8976493" y="3343573"/>
            <a:ext cx="2523467" cy="1279029"/>
          </a:xfrm>
          <a:prstGeom prst="roundRect">
            <a:avLst>
              <a:gd name="adj" fmla="val 19885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9165004" y="3532088"/>
            <a:ext cx="508583" cy="508595"/>
          </a:xfrm>
          <a:prstGeom prst="ellipse">
            <a:avLst/>
          </a:prstGeom>
          <a:solidFill>
            <a:srgbClr val="2D4DF2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04799" y="3671888"/>
            <a:ext cx="228892" cy="22889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165004" y="4184749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Power BI</a:t>
            </a:r>
            <a:endParaRPr lang="en-US" sz="1550" dirty="0"/>
          </a:p>
        </p:txBody>
      </p:sp>
      <p:sp>
        <p:nvSpPr>
          <p:cNvPr id="33" name="Shape 23"/>
          <p:cNvSpPr/>
          <p:nvPr/>
        </p:nvSpPr>
        <p:spPr>
          <a:xfrm>
            <a:off x="6308964" y="4766667"/>
            <a:ext cx="2523467" cy="1279029"/>
          </a:xfrm>
          <a:prstGeom prst="roundRect">
            <a:avLst>
              <a:gd name="adj" fmla="val 1988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6497475" y="4955183"/>
            <a:ext cx="508583" cy="508595"/>
          </a:xfrm>
          <a:prstGeom prst="ellipse">
            <a:avLst/>
          </a:prstGeom>
          <a:solidFill>
            <a:srgbClr val="018CE1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37271" y="5094982"/>
            <a:ext cx="228892" cy="22889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497475" y="5607844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EDA</a:t>
            </a:r>
            <a:endParaRPr lang="en-US" sz="1550" dirty="0"/>
          </a:p>
        </p:txBody>
      </p:sp>
      <p:sp>
        <p:nvSpPr>
          <p:cNvPr id="37" name="Shape 26"/>
          <p:cNvSpPr/>
          <p:nvPr/>
        </p:nvSpPr>
        <p:spPr>
          <a:xfrm>
            <a:off x="8976493" y="4766667"/>
            <a:ext cx="2523467" cy="1279029"/>
          </a:xfrm>
          <a:prstGeom prst="roundRect">
            <a:avLst>
              <a:gd name="adj" fmla="val 19885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9165004" y="4955183"/>
            <a:ext cx="508583" cy="508595"/>
          </a:xfrm>
          <a:prstGeom prst="ellipse">
            <a:avLst/>
          </a:prstGeom>
          <a:solidFill>
            <a:srgbClr val="DA33BF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04799" y="5094982"/>
            <a:ext cx="228892" cy="22889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9165004" y="5607844"/>
            <a:ext cx="2146445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Cleaning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6509"/>
            <a:ext cx="10795524" cy="363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Conclusion: From Raw Data to Business Decisions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673" y="1163042"/>
            <a:ext cx="6260249" cy="34209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91171" y="2771778"/>
            <a:ext cx="1450561" cy="18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Raw CSV Data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454086" y="2749520"/>
            <a:ext cx="1450561" cy="18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Python ETL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4730" y="2756757"/>
            <a:ext cx="1450561" cy="18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PostgreSQL Store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98086" y="4670127"/>
            <a:ext cx="11405108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project demonstrates a </a:t>
            </a:r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complete, production-ready BI workflow</a:t>
            </a:r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integrating data engineering, analytical SQL, and visual storytelling to drive measurable business impact for Brazilian e-commerce.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98086" y="4916388"/>
            <a:ext cx="10795524" cy="1295003"/>
          </a:xfrm>
          <a:prstGeom prst="roundRect">
            <a:avLst>
              <a:gd name="adj" fmla="val 14315"/>
            </a:avLst>
          </a:prstGeom>
          <a:solidFill>
            <a:srgbClr val="F3F3FF"/>
          </a:solidFill>
          <a:ln w="12700">
            <a:solidFill>
              <a:srgbClr val="2D4D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0785" y="4929088"/>
            <a:ext cx="5385062" cy="634802"/>
          </a:xfrm>
          <a:custGeom>
            <a:avLst/>
            <a:gdLst/>
            <a:ahLst/>
            <a:cxnLst/>
            <a:rect l="l" t="t" r="r" b="b"/>
            <a:pathLst>
              <a:path w="5385062" h="634802">
                <a:moveTo>
                  <a:pt x="154480" y="0"/>
                </a:moveTo>
                <a:lnTo>
                  <a:pt x="5385062" y="0"/>
                </a:lnTo>
                <a:lnTo>
                  <a:pt x="5385062" y="634802"/>
                </a:lnTo>
                <a:lnTo>
                  <a:pt x="0" y="634802"/>
                </a:lnTo>
                <a:lnTo>
                  <a:pt x="0" y="154483"/>
                </a:lnTo>
                <a:arcTo hR="154483" wR="154480" stAng="10800000" swAng="5400000"/>
                <a:close/>
              </a:path>
            </a:pathLst>
          </a:custGeom>
          <a:solidFill>
            <a:srgbClr val="F3F3FF"/>
          </a:solidFill>
          <a:ln/>
        </p:spPr>
      </p:sp>
      <p:sp>
        <p:nvSpPr>
          <p:cNvPr id="10" name="Text 7"/>
          <p:cNvSpPr/>
          <p:nvPr/>
        </p:nvSpPr>
        <p:spPr>
          <a:xfrm>
            <a:off x="834310" y="5052616"/>
            <a:ext cx="5138014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34310" y="5280223"/>
            <a:ext cx="5138014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+ PostgreSQL pipeline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95848" y="4929088"/>
            <a:ext cx="5385062" cy="634802"/>
          </a:xfrm>
          <a:custGeom>
            <a:avLst/>
            <a:gdLst/>
            <a:ahLst/>
            <a:cxnLst/>
            <a:rect l="l" t="t" r="r" b="b"/>
            <a:pathLst>
              <a:path w="5385062" h="634802">
                <a:moveTo>
                  <a:pt x="0" y="0"/>
                </a:moveTo>
                <a:lnTo>
                  <a:pt x="5230583" y="0"/>
                </a:lnTo>
                <a:arcTo hR="154483" wR="154480" stAng="16200000" swAng="5400000"/>
                <a:lnTo>
                  <a:pt x="5385062" y="634802"/>
                </a:lnTo>
                <a:lnTo>
                  <a:pt x="0" y="634802"/>
                </a:lnTo>
                <a:lnTo>
                  <a:pt x="0" y="0"/>
                </a:lnTo>
                <a:close/>
              </a:path>
            </a:pathLst>
          </a:custGeom>
          <a:solidFill>
            <a:srgbClr val="F3F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4929088"/>
            <a:ext cx="12700" cy="634802"/>
          </a:xfrm>
          <a:prstGeom prst="roundRect">
            <a:avLst>
              <a:gd name="adj" fmla="val 49999"/>
            </a:avLst>
          </a:prstGeom>
          <a:solidFill>
            <a:srgbClr val="1AA5FA"/>
          </a:solidFill>
          <a:ln/>
        </p:spPr>
      </p:sp>
      <p:sp>
        <p:nvSpPr>
          <p:cNvPr id="14" name="Text 11"/>
          <p:cNvSpPr/>
          <p:nvPr/>
        </p:nvSpPr>
        <p:spPr>
          <a:xfrm>
            <a:off x="6219372" y="5052616"/>
            <a:ext cx="5138014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19372" y="5280223"/>
            <a:ext cx="5138014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SQL-driven business questions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10785" y="5563890"/>
            <a:ext cx="5385062" cy="634802"/>
          </a:xfrm>
          <a:custGeom>
            <a:avLst/>
            <a:gdLst/>
            <a:ahLst/>
            <a:cxnLst/>
            <a:rect l="l" t="t" r="r" b="b"/>
            <a:pathLst>
              <a:path w="5385062" h="634802">
                <a:moveTo>
                  <a:pt x="0" y="0"/>
                </a:moveTo>
                <a:lnTo>
                  <a:pt x="5385062" y="0"/>
                </a:lnTo>
                <a:lnTo>
                  <a:pt x="5385062" y="634802"/>
                </a:lnTo>
                <a:lnTo>
                  <a:pt x="154480" y="634802"/>
                </a:lnTo>
                <a:arcTo hR="154483" wR="154480" stAng="5400000" swAng="5400000"/>
                <a:lnTo>
                  <a:pt x="0" y="0"/>
                </a:lnTo>
                <a:close/>
              </a:path>
            </a:pathLst>
          </a:custGeom>
          <a:solidFill>
            <a:srgbClr val="F3F3FF"/>
          </a:solidFill>
          <a:ln/>
        </p:spPr>
      </p:sp>
      <p:sp>
        <p:nvSpPr>
          <p:cNvPr id="17" name="Shape 14"/>
          <p:cNvSpPr/>
          <p:nvPr/>
        </p:nvSpPr>
        <p:spPr>
          <a:xfrm>
            <a:off x="710785" y="5563890"/>
            <a:ext cx="5385062" cy="12700"/>
          </a:xfrm>
          <a:prstGeom prst="roundRect">
            <a:avLst>
              <a:gd name="adj" fmla="val 49999"/>
            </a:avLst>
          </a:prstGeom>
          <a:solidFill>
            <a:srgbClr val="F34CD8"/>
          </a:solidFill>
          <a:ln/>
        </p:spPr>
      </p:sp>
      <p:sp>
        <p:nvSpPr>
          <p:cNvPr id="18" name="Text 15"/>
          <p:cNvSpPr/>
          <p:nvPr/>
        </p:nvSpPr>
        <p:spPr>
          <a:xfrm>
            <a:off x="834310" y="5687417"/>
            <a:ext cx="5138014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34310" y="5915025"/>
            <a:ext cx="5138014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Interactive Power BI dashboards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95848" y="5563890"/>
            <a:ext cx="5385062" cy="634802"/>
          </a:xfrm>
          <a:custGeom>
            <a:avLst/>
            <a:gdLst/>
            <a:ahLst/>
            <a:cxnLst/>
            <a:rect l="l" t="t" r="r" b="b"/>
            <a:pathLst>
              <a:path w="5385062" h="634802">
                <a:moveTo>
                  <a:pt x="0" y="0"/>
                </a:moveTo>
                <a:lnTo>
                  <a:pt x="5385062" y="0"/>
                </a:lnTo>
                <a:lnTo>
                  <a:pt x="5385062" y="480318"/>
                </a:lnTo>
                <a:arcTo hR="154483" wR="154480" stAng="0" swAng="5400000"/>
                <a:lnTo>
                  <a:pt x="0" y="634802"/>
                </a:lnTo>
                <a:lnTo>
                  <a:pt x="0" y="0"/>
                </a:lnTo>
                <a:close/>
              </a:path>
            </a:pathLst>
          </a:custGeom>
          <a:solidFill>
            <a:srgbClr val="F3F3FF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5848" y="5563890"/>
            <a:ext cx="12700" cy="634802"/>
          </a:xfrm>
          <a:prstGeom prst="roundRect">
            <a:avLst>
              <a:gd name="adj" fmla="val 49999"/>
            </a:avLst>
          </a:prstGeom>
          <a:solidFill>
            <a:srgbClr val="4666FF"/>
          </a:solidFill>
          <a:ln/>
        </p:spPr>
      </p:sp>
      <p:sp>
        <p:nvSpPr>
          <p:cNvPr id="22" name="Shape 19"/>
          <p:cNvSpPr/>
          <p:nvPr/>
        </p:nvSpPr>
        <p:spPr>
          <a:xfrm>
            <a:off x="6095848" y="5563890"/>
            <a:ext cx="5385062" cy="12700"/>
          </a:xfrm>
          <a:prstGeom prst="roundRect">
            <a:avLst>
              <a:gd name="adj" fmla="val 49999"/>
            </a:avLst>
          </a:prstGeom>
          <a:solidFill>
            <a:srgbClr val="4666FF"/>
          </a:solidFill>
          <a:ln/>
        </p:spPr>
      </p:sp>
      <p:sp>
        <p:nvSpPr>
          <p:cNvPr id="23" name="Text 20"/>
          <p:cNvSpPr/>
          <p:nvPr/>
        </p:nvSpPr>
        <p:spPr>
          <a:xfrm>
            <a:off x="6219372" y="5687417"/>
            <a:ext cx="5138014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19372" y="5915025"/>
            <a:ext cx="5138014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Actionable, data-backed decisions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2026-07-30T13:28:54Z</dcterms:created>
  <dcterms:modified xsi:type="dcterms:W3CDTF">2026-07-30T13:28:54Z</dcterms:modified>
</cp:coreProperties>
</file>